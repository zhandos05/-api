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Gotham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otham Bold Italics" panose="020B0604020202020204" charset="0"/>
      <p:regular r:id="rId15"/>
    </p:embeddedFont>
    <p:embeddedFont>
      <p:font typeface="Open Sans Bold" panose="020B0806030504020204" pitchFamily="34" charset="0"/>
      <p:regular r:id="rId16"/>
      <p:bold r:id="rId17"/>
    </p:embeddedFont>
    <p:embeddedFont>
      <p:font typeface="Gotham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666" y="6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68512" y="84806"/>
            <a:ext cx="10994424" cy="109944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57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91400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384897" y="5379918"/>
            <a:ext cx="6059445" cy="605944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720762" y="6964430"/>
            <a:ext cx="2000810" cy="4114800"/>
          </a:xfrm>
          <a:custGeom>
            <a:avLst/>
            <a:gdLst/>
            <a:ahLst/>
            <a:cxnLst/>
            <a:rect l="l" t="t" r="r" b="b"/>
            <a:pathLst>
              <a:path w="2000810" h="411480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r="-204881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73132" y="4114076"/>
            <a:ext cx="12198237" cy="2291464"/>
            <a:chOff x="0" y="0"/>
            <a:chExt cx="3212705" cy="6035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12704" cy="603513"/>
            </a:xfrm>
            <a:custGeom>
              <a:avLst/>
              <a:gdLst/>
              <a:ahLst/>
              <a:cxnLst/>
              <a:rect l="l" t="t" r="r" b="b"/>
              <a:pathLst>
                <a:path w="3212704" h="603513">
                  <a:moveTo>
                    <a:pt x="0" y="0"/>
                  </a:moveTo>
                  <a:lnTo>
                    <a:pt x="3212704" y="0"/>
                  </a:lnTo>
                  <a:lnTo>
                    <a:pt x="3212704" y="603513"/>
                  </a:lnTo>
                  <a:lnTo>
                    <a:pt x="0" y="603513"/>
                  </a:lnTo>
                  <a:close/>
                </a:path>
              </a:pathLst>
            </a:custGeom>
            <a:solidFill>
              <a:srgbClr val="FFFEF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3212705" cy="632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5668602" y="418249"/>
            <a:ext cx="8269449" cy="4961669"/>
          </a:xfrm>
          <a:custGeom>
            <a:avLst/>
            <a:gdLst/>
            <a:ahLst/>
            <a:cxnLst/>
            <a:rect l="l" t="t" r="r" b="b"/>
            <a:pathLst>
              <a:path w="8269449" h="4961669">
                <a:moveTo>
                  <a:pt x="0" y="0"/>
                </a:moveTo>
                <a:lnTo>
                  <a:pt x="8269449" y="0"/>
                </a:lnTo>
                <a:lnTo>
                  <a:pt x="8269449" y="4961669"/>
                </a:lnTo>
                <a:lnTo>
                  <a:pt x="0" y="49616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046954" y="7802200"/>
            <a:ext cx="10524416" cy="186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 spc="198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Орындаған:Құрақбай</a:t>
            </a:r>
            <a:r>
              <a:rPr lang="en-US" sz="3536" spc="198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spc="198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Жандос</a:t>
            </a:r>
            <a:endParaRPr lang="en-US" sz="3536" spc="198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algn="ctr">
              <a:lnSpc>
                <a:spcPts val="4951"/>
              </a:lnSpc>
            </a:pPr>
            <a:r>
              <a:rPr lang="en-US" sz="3536" spc="198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Тобы:24-16</a:t>
            </a:r>
          </a:p>
          <a:p>
            <a:pPr algn="ctr">
              <a:lnSpc>
                <a:spcPts val="4951"/>
              </a:lnSpc>
              <a:spcBef>
                <a:spcPct val="0"/>
              </a:spcBef>
            </a:pPr>
            <a:endParaRPr lang="en-US" sz="3536" spc="198" dirty="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01640" y="4183063"/>
            <a:ext cx="14890574" cy="184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490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ПАЙДАЛАНУШЫНЫ ТІРКЕУ ЖӘНЕ КІРУ ЖҮЙЕСІ</a:t>
            </a:r>
          </a:p>
          <a:p>
            <a:pPr algn="ctr">
              <a:lnSpc>
                <a:spcPts val="4900"/>
              </a:lnSpc>
            </a:pPr>
            <a:r>
              <a:rPr lang="en-US" sz="3500" spc="490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АВТОРИЗАЦИЯ API 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 spc="490" dirty="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68500" y="8661165"/>
            <a:ext cx="615100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8738901" y="857250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65668" y="-5606768"/>
            <a:ext cx="10994424" cy="109944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024989" y="1943991"/>
            <a:ext cx="2976070" cy="98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3900" b="1" spc="195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Жоба</a:t>
            </a:r>
            <a:r>
              <a:rPr lang="en-US" sz="3900" b="1" spc="195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900" b="1" spc="195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мақсаты</a:t>
            </a:r>
            <a:r>
              <a:rPr lang="en-US" sz="3900" b="1" spc="195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: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 rot="3945801">
            <a:off x="11868535" y="8125500"/>
            <a:ext cx="4776403" cy="4776403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 rot="3945801">
            <a:off x="12156571" y="7154038"/>
            <a:ext cx="1577153" cy="3243522"/>
          </a:xfrm>
          <a:custGeom>
            <a:avLst/>
            <a:gdLst/>
            <a:ahLst/>
            <a:cxnLst/>
            <a:rect l="l" t="t" r="r" b="b"/>
            <a:pathLst>
              <a:path w="1577153" h="3243522">
                <a:moveTo>
                  <a:pt x="0" y="0"/>
                </a:moveTo>
                <a:lnTo>
                  <a:pt x="1577154" y="0"/>
                </a:lnTo>
                <a:lnTo>
                  <a:pt x="1577154" y="3243523"/>
                </a:lnTo>
                <a:lnTo>
                  <a:pt x="0" y="3243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r="-204881"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2253731" y="3059737"/>
            <a:ext cx="8888886" cy="490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8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3538"/>
              </a:lnSpc>
            </a:pP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Бұл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жобаның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негізгі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мақсаты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—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пайдаланушыларды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тіркеу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және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жүйеге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кіру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процесін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жүзеге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асыру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.</a:t>
            </a:r>
          </a:p>
          <a:p>
            <a:pPr algn="ctr">
              <a:lnSpc>
                <a:spcPts val="3538"/>
              </a:lnSpc>
            </a:pP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Сонымен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қатар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,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парольдерді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қауіпсіз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сақтау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үшін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хэштеу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әдісін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қолдану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қарастырылған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.</a:t>
            </a:r>
          </a:p>
          <a:p>
            <a:pPr algn="ctr">
              <a:lnSpc>
                <a:spcPts val="3538"/>
              </a:lnSpc>
            </a:pPr>
            <a:endParaRPr lang="en-US" sz="2527" b="1" dirty="0">
              <a:solidFill>
                <a:srgbClr val="191919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algn="ctr">
              <a:lnSpc>
                <a:spcPts val="3538"/>
              </a:lnSpc>
            </a:pP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Бұл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жоба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арқылы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біз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:</a:t>
            </a:r>
          </a:p>
          <a:p>
            <a:pPr algn="ctr">
              <a:lnSpc>
                <a:spcPts val="3538"/>
              </a:lnSpc>
            </a:pP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•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Қарапайым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авторизация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жүйесін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жасаймыз</a:t>
            </a:r>
            <a:endParaRPr lang="en-US" sz="2527" b="1" dirty="0">
              <a:solidFill>
                <a:srgbClr val="191919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algn="ctr">
              <a:lnSpc>
                <a:spcPts val="3538"/>
              </a:lnSpc>
            </a:pP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•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Қауіпсіздік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негіздерін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түсінеміз</a:t>
            </a:r>
            <a:endParaRPr lang="en-US" sz="2527" b="1" dirty="0">
              <a:solidFill>
                <a:srgbClr val="191919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algn="ctr">
              <a:lnSpc>
                <a:spcPts val="3538"/>
              </a:lnSpc>
            </a:pP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•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Парольдерді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қорғау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әдістерін</a:t>
            </a:r>
            <a:r>
              <a:rPr lang="en-US" sz="2527" b="1" dirty="0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527" b="1" dirty="0" err="1">
                <a:solidFill>
                  <a:srgbClr val="191919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үйренеміз</a:t>
            </a:r>
            <a:endParaRPr lang="en-US" sz="2527" b="1" dirty="0">
              <a:solidFill>
                <a:srgbClr val="191919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algn="ctr">
              <a:lnSpc>
                <a:spcPts val="3538"/>
              </a:lnSpc>
            </a:pPr>
            <a:endParaRPr lang="en-US" sz="2527" b="1" dirty="0">
              <a:solidFill>
                <a:srgbClr val="191919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82580" y="-3503638"/>
            <a:ext cx="12753441" cy="127534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61950" cap="sq">
              <a:solidFill>
                <a:srgbClr val="FD6220">
                  <a:alpha val="25882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39671" y="1555884"/>
            <a:ext cx="5946689" cy="3317308"/>
            <a:chOff x="0" y="0"/>
            <a:chExt cx="7928919" cy="4423077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t="22638" b="40195"/>
            <a:stretch>
              <a:fillRect/>
            </a:stretch>
          </p:blipFill>
          <p:spPr>
            <a:xfrm>
              <a:off x="0" y="0"/>
              <a:ext cx="7928919" cy="4423077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 rot="973833">
            <a:off x="13349702" y="5693519"/>
            <a:ext cx="2660764" cy="3271778"/>
            <a:chOff x="0" y="0"/>
            <a:chExt cx="3547686" cy="4362370"/>
          </a:xfrm>
        </p:grpSpPr>
        <p:pic>
          <p:nvPicPr>
            <p:cNvPr id="33" name="Picture 33"/>
            <p:cNvPicPr>
              <a:picLocks noChangeAspect="1"/>
            </p:cNvPicPr>
            <p:nvPr/>
          </p:nvPicPr>
          <p:blipFill>
            <a:blip r:embed="rId5"/>
            <a:srcRect t="11872" b="6203"/>
            <a:stretch>
              <a:fillRect/>
            </a:stretch>
          </p:blipFill>
          <p:spPr>
            <a:xfrm>
              <a:off x="0" y="0"/>
              <a:ext cx="3547686" cy="4362370"/>
            </a:xfrm>
            <a:prstGeom prst="rect">
              <a:avLst/>
            </a:prstGeom>
          </p:spPr>
        </p:pic>
      </p:grpSp>
      <p:grpSp>
        <p:nvGrpSpPr>
          <p:cNvPr id="34" name="Group 34"/>
          <p:cNvGrpSpPr/>
          <p:nvPr/>
        </p:nvGrpSpPr>
        <p:grpSpPr>
          <a:xfrm rot="-542939">
            <a:off x="10421778" y="5395495"/>
            <a:ext cx="2636985" cy="3669773"/>
            <a:chOff x="0" y="0"/>
            <a:chExt cx="3515979" cy="4893030"/>
          </a:xfrm>
        </p:grpSpPr>
        <p:pic>
          <p:nvPicPr>
            <p:cNvPr id="35" name="Picture 35"/>
            <p:cNvPicPr>
              <a:picLocks noChangeAspect="1"/>
            </p:cNvPicPr>
            <p:nvPr/>
          </p:nvPicPr>
          <p:blipFill>
            <a:blip r:embed="rId6"/>
            <a:srcRect l="26062" r="26062"/>
            <a:stretch>
              <a:fillRect/>
            </a:stretch>
          </p:blipFill>
          <p:spPr>
            <a:xfrm>
              <a:off x="0" y="0"/>
              <a:ext cx="3515979" cy="4893030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2170643" y="592251"/>
            <a:ext cx="8669028" cy="4606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7"/>
              </a:lnSpc>
            </a:pPr>
            <a:endParaRPr dirty="0"/>
          </a:p>
          <a:p>
            <a:pPr algn="l">
              <a:lnSpc>
                <a:spcPts val="7257"/>
              </a:lnSpc>
            </a:pPr>
            <a:r>
              <a:rPr lang="en-US" sz="5183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Авторизация</a:t>
            </a:r>
            <a:r>
              <a:rPr lang="en-US" sz="5183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5183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деген</a:t>
            </a:r>
            <a:r>
              <a:rPr lang="en-US" sz="5183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5183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не</a:t>
            </a:r>
            <a:r>
              <a:rPr lang="en-US" sz="5183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?</a:t>
            </a:r>
          </a:p>
          <a:p>
            <a:pPr algn="l">
              <a:lnSpc>
                <a:spcPts val="7257"/>
              </a:lnSpc>
            </a:pPr>
            <a:endParaRPr lang="en-US" sz="5183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7257"/>
              </a:lnSpc>
            </a:pPr>
            <a:endParaRPr lang="en-US" sz="5183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7257"/>
              </a:lnSpc>
            </a:pPr>
            <a:endParaRPr lang="en-US" sz="5183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720202" y="3755511"/>
            <a:ext cx="5805564" cy="5720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Авторизация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—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бұл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пайдаланушының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жүйеге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кіру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процесі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.</a:t>
            </a:r>
          </a:p>
          <a:p>
            <a:pPr algn="l">
              <a:lnSpc>
                <a:spcPts val="2848"/>
              </a:lnSpc>
            </a:pPr>
            <a:endParaRPr lang="en-US" sz="2109" spc="52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algn="l">
              <a:lnSpc>
                <a:spcPts val="2848"/>
              </a:lnSpc>
            </a:pP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Яғни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:</a:t>
            </a:r>
          </a:p>
          <a:p>
            <a:pPr algn="l">
              <a:lnSpc>
                <a:spcPts val="2848"/>
              </a:lnSpc>
            </a:pPr>
            <a:endParaRPr lang="en-US" sz="2109" spc="52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marL="455520" lvl="1" indent="-227760" algn="l">
              <a:lnSpc>
                <a:spcPts val="2848"/>
              </a:lnSpc>
              <a:buFont typeface="Arial"/>
              <a:buChar char="•"/>
            </a:pP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Пайдаланушы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өз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логині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мен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паролін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енгізеді</a:t>
            </a:r>
            <a:endParaRPr lang="en-US" sz="2109" spc="52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marL="455520" lvl="1" indent="-227760" algn="l">
              <a:lnSpc>
                <a:spcPts val="2848"/>
              </a:lnSpc>
              <a:buFont typeface="Arial"/>
              <a:buChar char="•"/>
            </a:pP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Жүйе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оны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тексереді</a:t>
            </a:r>
            <a:endParaRPr lang="en-US" sz="2109" spc="52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marL="455520" lvl="1" indent="-227760" algn="l">
              <a:lnSpc>
                <a:spcPts val="2848"/>
              </a:lnSpc>
              <a:buFont typeface="Arial"/>
              <a:buChar char="•"/>
            </a:pP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Егер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дұрыс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болса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—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кіруге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рұқсат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береді</a:t>
            </a:r>
            <a:endParaRPr lang="en-US" sz="2109" spc="52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algn="l">
              <a:lnSpc>
                <a:spcPts val="2848"/>
              </a:lnSpc>
            </a:pPr>
            <a:endParaRPr lang="en-US" sz="2109" spc="52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algn="l">
              <a:lnSpc>
                <a:spcPts val="2848"/>
              </a:lnSpc>
            </a:pPr>
            <a:endParaRPr lang="en-US" sz="2109" spc="52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algn="l">
              <a:lnSpc>
                <a:spcPts val="2848"/>
              </a:lnSpc>
            </a:pP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Авторизация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барлық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сайттар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мен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қосымшаларда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қолданылады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(Instagram,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TikTok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, Gmail </a:t>
            </a:r>
            <a:r>
              <a:rPr lang="en-US" sz="2109" spc="52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т.б</a:t>
            </a:r>
            <a:r>
              <a:rPr lang="en-US" sz="2109" spc="52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.)</a:t>
            </a:r>
          </a:p>
          <a:p>
            <a:pPr algn="l">
              <a:lnSpc>
                <a:spcPts val="2848"/>
              </a:lnSpc>
            </a:pPr>
            <a:r>
              <a:rPr lang="en-US" sz="2109" spc="52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  <a:p>
            <a:pPr marL="0" lvl="0" indent="0" algn="l">
              <a:lnSpc>
                <a:spcPts val="2848"/>
              </a:lnSpc>
              <a:spcBef>
                <a:spcPct val="0"/>
              </a:spcBef>
            </a:pPr>
            <a:endParaRPr lang="en-US" sz="2109" spc="52" dirty="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12611" y="1028700"/>
            <a:ext cx="4556554" cy="3317308"/>
            <a:chOff x="0" y="0"/>
            <a:chExt cx="6075405" cy="442307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4242" r="4242"/>
            <a:stretch>
              <a:fillRect/>
            </a:stretch>
          </p:blipFill>
          <p:spPr>
            <a:xfrm>
              <a:off x="0" y="0"/>
              <a:ext cx="6075405" cy="442307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312611" y="4443074"/>
            <a:ext cx="2660764" cy="4815226"/>
            <a:chOff x="0" y="0"/>
            <a:chExt cx="3547686" cy="6420301"/>
          </a:xfrm>
        </p:grpSpPr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3"/>
            <a:srcRect l="31592" r="31592"/>
            <a:stretch>
              <a:fillRect/>
            </a:stretch>
          </p:blipFill>
          <p:spPr>
            <a:xfrm>
              <a:off x="0" y="0"/>
              <a:ext cx="3547686" cy="6420301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15994763" y="1028700"/>
            <a:ext cx="1436473" cy="3317308"/>
            <a:chOff x="0" y="0"/>
            <a:chExt cx="1915297" cy="4423077"/>
          </a:xfrm>
        </p:grpSpPr>
        <p:sp>
          <p:nvSpPr>
            <p:cNvPr id="31" name="AutoShape 31"/>
            <p:cNvSpPr/>
            <p:nvPr/>
          </p:nvSpPr>
          <p:spPr>
            <a:xfrm>
              <a:off x="0" y="0"/>
              <a:ext cx="1915297" cy="4423077"/>
            </a:xfrm>
            <a:prstGeom prst="rect">
              <a:avLst/>
            </a:prstGeom>
            <a:solidFill>
              <a:srgbClr val="FD622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4106296" y="4443074"/>
            <a:ext cx="3324940" cy="2137237"/>
            <a:chOff x="0" y="0"/>
            <a:chExt cx="4433253" cy="2849649"/>
          </a:xfrm>
        </p:grpSpPr>
        <p:pic>
          <p:nvPicPr>
            <p:cNvPr id="33" name="Picture 33"/>
            <p:cNvPicPr>
              <a:picLocks noChangeAspect="1"/>
            </p:cNvPicPr>
            <p:nvPr/>
          </p:nvPicPr>
          <p:blipFill>
            <a:blip r:embed="rId4"/>
            <a:srcRect l="11301" r="11301"/>
            <a:stretch>
              <a:fillRect/>
            </a:stretch>
          </p:blipFill>
          <p:spPr>
            <a:xfrm>
              <a:off x="0" y="0"/>
              <a:ext cx="4433253" cy="2849649"/>
            </a:xfrm>
            <a:prstGeom prst="rect">
              <a:avLst/>
            </a:prstGeom>
          </p:spPr>
        </p:pic>
      </p:grpSp>
      <p:grpSp>
        <p:nvGrpSpPr>
          <p:cNvPr id="34" name="Group 34"/>
          <p:cNvGrpSpPr/>
          <p:nvPr/>
        </p:nvGrpSpPr>
        <p:grpSpPr>
          <a:xfrm>
            <a:off x="14106296" y="6675561"/>
            <a:ext cx="3324940" cy="2582739"/>
            <a:chOff x="0" y="0"/>
            <a:chExt cx="4433253" cy="3443652"/>
          </a:xfrm>
        </p:grpSpPr>
        <p:pic>
          <p:nvPicPr>
            <p:cNvPr id="35" name="Picture 35"/>
            <p:cNvPicPr>
              <a:picLocks noChangeAspect="1"/>
            </p:cNvPicPr>
            <p:nvPr/>
          </p:nvPicPr>
          <p:blipFill>
            <a:blip r:embed="rId5"/>
            <a:srcRect l="7034" r="7034"/>
            <a:stretch>
              <a:fillRect/>
            </a:stretch>
          </p:blipFill>
          <p:spPr>
            <a:xfrm>
              <a:off x="0" y="0"/>
              <a:ext cx="4433253" cy="3443652"/>
            </a:xfrm>
            <a:prstGeom prst="rect">
              <a:avLst/>
            </a:prstGeom>
          </p:spPr>
        </p:pic>
      </p:grpSp>
      <p:sp>
        <p:nvSpPr>
          <p:cNvPr id="36" name="TextBox 36"/>
          <p:cNvSpPr txBox="1"/>
          <p:nvPr/>
        </p:nvSpPr>
        <p:spPr>
          <a:xfrm>
            <a:off x="2892228" y="-999697"/>
            <a:ext cx="5531434" cy="8278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9"/>
              </a:lnSpc>
            </a:pPr>
            <a:endParaRPr dirty="0"/>
          </a:p>
          <a:p>
            <a:pPr algn="l">
              <a:lnSpc>
                <a:spcPts val="8199"/>
              </a:lnSpc>
            </a:pPr>
            <a:endParaRPr dirty="0"/>
          </a:p>
          <a:p>
            <a:pPr algn="l">
              <a:lnSpc>
                <a:spcPts val="8199"/>
              </a:lnSpc>
            </a:pPr>
            <a:r>
              <a:rPr lang="en-US" sz="585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Жүйенің</a:t>
            </a:r>
            <a:r>
              <a:rPr lang="en-US" sz="585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585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функционалы</a:t>
            </a:r>
            <a:endParaRPr lang="en-US" sz="5856" b="1" dirty="0">
              <a:solidFill>
                <a:srgbClr val="191919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algn="l">
              <a:lnSpc>
                <a:spcPts val="8199"/>
              </a:lnSpc>
            </a:pPr>
            <a:endParaRPr lang="en-US" sz="5856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8199"/>
              </a:lnSpc>
            </a:pPr>
            <a:endParaRPr lang="en-US" sz="5856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8199"/>
              </a:lnSpc>
            </a:pPr>
            <a:endParaRPr lang="en-US" sz="5856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8199"/>
              </a:lnSpc>
            </a:pPr>
            <a:endParaRPr lang="en-US" sz="5856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450353" y="3471986"/>
            <a:ext cx="5615776" cy="5462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Бұл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жобада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келесі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функциялар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бар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:</a:t>
            </a:r>
          </a:p>
          <a:p>
            <a:pPr algn="l">
              <a:lnSpc>
                <a:spcPts val="3899"/>
              </a:lnSpc>
            </a:pP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1. Register (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Тіркелу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)</a:t>
            </a:r>
          </a:p>
          <a:p>
            <a:pPr algn="l">
              <a:lnSpc>
                <a:spcPts val="3899"/>
              </a:lnSpc>
            </a:pP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Пайдаланушы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жаңа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аккаунт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жасайды</a:t>
            </a:r>
            <a:endParaRPr lang="en-US" sz="2785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algn="l">
              <a:lnSpc>
                <a:spcPts val="3899"/>
              </a:lnSpc>
            </a:pP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2. Login (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Кіру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)</a:t>
            </a:r>
          </a:p>
          <a:p>
            <a:pPr algn="l">
              <a:lnSpc>
                <a:spcPts val="3899"/>
              </a:lnSpc>
            </a:pP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Пайдаланушы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жүйеге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кіреді</a:t>
            </a:r>
            <a:endParaRPr lang="en-US" sz="2785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algn="l">
              <a:lnSpc>
                <a:spcPts val="3899"/>
              </a:lnSpc>
            </a:pP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3. Password Hashing (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Парольді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хэштеу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)</a:t>
            </a:r>
          </a:p>
          <a:p>
            <a:pPr algn="l">
              <a:lnSpc>
                <a:spcPts val="3899"/>
              </a:lnSpc>
            </a:pP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Пароль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қауіпсіз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түрде</a:t>
            </a:r>
            <a:r>
              <a:rPr lang="en-US" sz="2785" dirty="0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2785" dirty="0" err="1">
                <a:solidFill>
                  <a:srgbClr val="191919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сақталады</a:t>
            </a:r>
            <a:endParaRPr lang="en-US" sz="2785" dirty="0">
              <a:solidFill>
                <a:srgbClr val="191919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algn="l">
              <a:lnSpc>
                <a:spcPts val="3899"/>
              </a:lnSpc>
            </a:pPr>
            <a:endParaRPr lang="en-US" sz="2785" dirty="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899"/>
              </a:lnSpc>
            </a:pPr>
            <a:endParaRPr lang="en-US" sz="2785" dirty="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439471" y="8737362"/>
            <a:ext cx="3697059" cy="3697059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859440" y="-694816"/>
            <a:ext cx="10620207" cy="798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8958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8958"/>
              </a:lnSpc>
              <a:spcBef>
                <a:spcPct val="0"/>
              </a:spcBef>
            </a:pPr>
            <a:r>
              <a:rPr lang="en-US" sz="6399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Хэштеу</a:t>
            </a:r>
            <a:r>
              <a:rPr lang="en-US" sz="6399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6399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деген</a:t>
            </a:r>
            <a:r>
              <a:rPr lang="en-US" sz="6399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6399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не</a:t>
            </a:r>
            <a:r>
              <a:rPr lang="en-US" sz="6399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?</a:t>
            </a:r>
          </a:p>
          <a:p>
            <a:pPr algn="l">
              <a:lnSpc>
                <a:spcPts val="8958"/>
              </a:lnSpc>
              <a:spcBef>
                <a:spcPct val="0"/>
              </a:spcBef>
            </a:pPr>
            <a:endParaRPr lang="en-US" sz="6399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8958"/>
              </a:lnSpc>
              <a:spcBef>
                <a:spcPct val="0"/>
              </a:spcBef>
            </a:pPr>
            <a:endParaRPr lang="en-US" sz="6399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8958"/>
              </a:lnSpc>
              <a:spcBef>
                <a:spcPct val="0"/>
              </a:spcBef>
            </a:pPr>
            <a:endParaRPr lang="en-US" sz="6399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8958"/>
              </a:lnSpc>
              <a:spcBef>
                <a:spcPct val="0"/>
              </a:spcBef>
            </a:pPr>
            <a:endParaRPr lang="en-US" sz="6399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859440" y="2449954"/>
            <a:ext cx="14203000" cy="571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1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4951"/>
              </a:lnSpc>
            </a:pP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Хэштеу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—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бұл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парольді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арнайы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алгоритм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арқылы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өзгертіп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,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оны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қауіпсіз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кодқа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айналдыру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процесі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.</a:t>
            </a:r>
          </a:p>
          <a:p>
            <a:pPr algn="l">
              <a:lnSpc>
                <a:spcPts val="4951"/>
              </a:lnSpc>
            </a:pPr>
            <a:endParaRPr lang="en-US" sz="3536" b="1" dirty="0">
              <a:solidFill>
                <a:srgbClr val="191919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algn="l">
              <a:lnSpc>
                <a:spcPts val="4951"/>
              </a:lnSpc>
            </a:pP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Ерекшеліктері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:</a:t>
            </a:r>
          </a:p>
          <a:p>
            <a:pPr algn="l">
              <a:lnSpc>
                <a:spcPts val="4951"/>
              </a:lnSpc>
            </a:pP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•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Қайтымсыз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(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кері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қайтарылмайды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)</a:t>
            </a:r>
          </a:p>
          <a:p>
            <a:pPr algn="l">
              <a:lnSpc>
                <a:spcPts val="4951"/>
              </a:lnSpc>
            </a:pP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•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Бірдей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пароль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→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бірдей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хэш</a:t>
            </a:r>
            <a:endParaRPr lang="en-US" sz="3536" b="1" dirty="0">
              <a:solidFill>
                <a:srgbClr val="191919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algn="l">
              <a:lnSpc>
                <a:spcPts val="4951"/>
              </a:lnSpc>
            </a:pP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•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Қауіпсіз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сақтау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үшін</a:t>
            </a:r>
            <a:r>
              <a:rPr lang="en-US" sz="3536" b="1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536" b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қолданылады</a:t>
            </a:r>
            <a:endParaRPr lang="en-US" sz="3536" b="1" dirty="0">
              <a:solidFill>
                <a:srgbClr val="191919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algn="l">
              <a:lnSpc>
                <a:spcPts val="4951"/>
              </a:lnSpc>
            </a:pPr>
            <a:endParaRPr lang="en-US" sz="3536" b="1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733266" y="2991588"/>
            <a:ext cx="8730656" cy="602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Егер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пароль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ашық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түрде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сақталса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:</a:t>
            </a:r>
          </a:p>
          <a:p>
            <a:pPr algn="l">
              <a:lnSpc>
                <a:spcPts val="4271"/>
              </a:lnSpc>
            </a:pP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•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Хакерлер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базаға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кірсе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—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барлық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парольді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көреді</a:t>
            </a:r>
            <a:endParaRPr lang="en-US" sz="3051" b="1" dirty="0">
              <a:solidFill>
                <a:srgbClr val="000000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algn="l">
              <a:lnSpc>
                <a:spcPts val="4271"/>
              </a:lnSpc>
            </a:pP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•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Пайдаланушылардың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аккаунттары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бұзылады</a:t>
            </a:r>
            <a:endParaRPr lang="en-US" sz="3051" b="1" dirty="0">
              <a:solidFill>
                <a:srgbClr val="000000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algn="l">
              <a:lnSpc>
                <a:spcPts val="4271"/>
              </a:lnSpc>
            </a:pP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•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Бір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пароль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басқа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сайттарда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да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қолданылуы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мүмкін</a:t>
            </a:r>
            <a:endParaRPr lang="en-US" sz="3051" b="1" dirty="0">
              <a:solidFill>
                <a:srgbClr val="000000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algn="l">
              <a:lnSpc>
                <a:spcPts val="4271"/>
              </a:lnSpc>
            </a:pPr>
            <a:endParaRPr lang="en-US" sz="3051" b="1" dirty="0">
              <a:solidFill>
                <a:srgbClr val="000000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algn="l">
              <a:lnSpc>
                <a:spcPts val="4271"/>
              </a:lnSpc>
            </a:pP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Сондықтан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:</a:t>
            </a:r>
          </a:p>
          <a:p>
            <a:pPr algn="l">
              <a:lnSpc>
                <a:spcPts val="4271"/>
              </a:lnSpc>
            </a:pP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👉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Пароль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тек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хэш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түрінде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сақталуы</a:t>
            </a:r>
            <a:r>
              <a:rPr lang="en-US" sz="3051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3051" b="1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керек</a:t>
            </a:r>
            <a:endParaRPr lang="en-US" sz="3051" b="1" dirty="0">
              <a:solidFill>
                <a:srgbClr val="000000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algn="l">
              <a:lnSpc>
                <a:spcPts val="4271"/>
              </a:lnSpc>
            </a:pPr>
            <a:endParaRPr lang="en-US" sz="3051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4271"/>
              </a:lnSpc>
            </a:pPr>
            <a:endParaRPr lang="en-US" sz="3051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733266" y="-710601"/>
            <a:ext cx="9943925" cy="707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79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6879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6879"/>
              </a:lnSpc>
              <a:spcBef>
                <a:spcPct val="0"/>
              </a:spcBef>
            </a:pPr>
            <a:r>
              <a:rPr lang="en-US" sz="6369" b="1" u="none" strike="noStrike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Неге</a:t>
            </a:r>
            <a:r>
              <a:rPr lang="en-US" sz="6369" b="1" u="none" strike="noStrike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6369" b="1" u="none" strike="noStrike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парольді</a:t>
            </a:r>
            <a:r>
              <a:rPr lang="en-US" sz="6369" b="1" u="none" strike="noStrike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6369" b="1" u="none" strike="noStrike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ашық</a:t>
            </a:r>
            <a:r>
              <a:rPr lang="en-US" sz="6369" b="1" u="none" strike="noStrike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6369" b="1" u="none" strike="noStrike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сақтауға</a:t>
            </a:r>
            <a:r>
              <a:rPr lang="en-US" sz="6369" b="1" u="none" strike="noStrike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</a:t>
            </a:r>
            <a:r>
              <a:rPr lang="en-US" sz="6369" b="1" u="none" strike="noStrike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болмайды</a:t>
            </a:r>
            <a:r>
              <a:rPr lang="en-US" sz="6369" b="1" u="none" strike="noStrike" dirty="0">
                <a:solidFill>
                  <a:srgbClr val="191919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?</a:t>
            </a:r>
          </a:p>
          <a:p>
            <a:pPr marL="0" lvl="0" indent="0" algn="l">
              <a:lnSpc>
                <a:spcPts val="6879"/>
              </a:lnSpc>
              <a:spcBef>
                <a:spcPct val="0"/>
              </a:spcBef>
            </a:pPr>
            <a:endParaRPr lang="en-US" sz="6369" b="1" u="none" strike="noStrike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0" lvl="0" indent="0" algn="l">
              <a:lnSpc>
                <a:spcPts val="6879"/>
              </a:lnSpc>
              <a:spcBef>
                <a:spcPct val="0"/>
              </a:spcBef>
            </a:pPr>
            <a:endParaRPr lang="en-US" sz="6369" b="1" u="none" strike="noStrike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0" lvl="0" indent="0" algn="l">
              <a:lnSpc>
                <a:spcPts val="6879"/>
              </a:lnSpc>
              <a:spcBef>
                <a:spcPct val="0"/>
              </a:spcBef>
            </a:pPr>
            <a:endParaRPr lang="en-US" sz="6369" b="1" u="none" strike="noStrike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0" lvl="0" indent="0" algn="l">
              <a:lnSpc>
                <a:spcPts val="6879"/>
              </a:lnSpc>
              <a:spcBef>
                <a:spcPct val="0"/>
              </a:spcBef>
            </a:pPr>
            <a:endParaRPr lang="en-US" sz="6369" b="1" u="none" strike="noStrike" dirty="0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2606026" y="3798462"/>
            <a:ext cx="10786520" cy="521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890"/>
              </a:lnSpc>
            </a:pP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Жүйе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келесі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қадамдармен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жұмыс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істейді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:</a:t>
            </a:r>
          </a:p>
          <a:p>
            <a:pPr algn="l">
              <a:lnSpc>
                <a:spcPts val="3890"/>
              </a:lnSpc>
            </a:pPr>
            <a:endParaRPr lang="en-US" sz="3536" dirty="0">
              <a:solidFill>
                <a:srgbClr val="000000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marL="763622" lvl="1" indent="-381811" algn="l">
              <a:lnSpc>
                <a:spcPts val="3890"/>
              </a:lnSpc>
              <a:buAutoNum type="arabicPeriod"/>
            </a:pP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Пайдаланушы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тіркеледі</a:t>
            </a:r>
            <a:endParaRPr lang="en-US" sz="3536" dirty="0">
              <a:solidFill>
                <a:srgbClr val="000000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marL="763622" lvl="1" indent="-381811" algn="l">
              <a:lnSpc>
                <a:spcPts val="3890"/>
              </a:lnSpc>
              <a:buAutoNum type="arabicPeriod"/>
            </a:pP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Пароль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хэшке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айналады</a:t>
            </a:r>
            <a:endParaRPr lang="en-US" sz="3536" dirty="0">
              <a:solidFill>
                <a:srgbClr val="000000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marL="763622" lvl="1" indent="-381811" algn="l">
              <a:lnSpc>
                <a:spcPts val="3890"/>
              </a:lnSpc>
              <a:buAutoNum type="arabicPeriod"/>
            </a:pP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Хэш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базаға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сақталады</a:t>
            </a:r>
            <a:endParaRPr lang="en-US" sz="3536" dirty="0">
              <a:solidFill>
                <a:srgbClr val="000000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marL="763622" lvl="1" indent="-381811" algn="l">
              <a:lnSpc>
                <a:spcPts val="3890"/>
              </a:lnSpc>
              <a:buAutoNum type="arabicPeriod"/>
            </a:pP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Кіру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кезінде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пароль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қайта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хэштеледі</a:t>
            </a:r>
            <a:endParaRPr lang="en-US" sz="3536" dirty="0">
              <a:solidFill>
                <a:srgbClr val="000000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marL="763622" lvl="1" indent="-381811" algn="l">
              <a:lnSpc>
                <a:spcPts val="3890"/>
              </a:lnSpc>
              <a:buAutoNum type="arabicPeriod"/>
            </a:pP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Екі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хэш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салыстырылады</a:t>
            </a:r>
            <a:endParaRPr lang="en-US" sz="3536" dirty="0">
              <a:solidFill>
                <a:srgbClr val="000000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marL="763622" lvl="1" indent="-381811" algn="l">
              <a:lnSpc>
                <a:spcPts val="3890"/>
              </a:lnSpc>
              <a:buAutoNum type="arabicPeriod"/>
            </a:pP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Егер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сәйкес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болса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—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кіру</a:t>
            </a:r>
            <a:r>
              <a:rPr lang="en-US" sz="3536" dirty="0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 </a:t>
            </a:r>
            <a:r>
              <a:rPr lang="en-US" sz="3536" dirty="0" err="1">
                <a:solidFill>
                  <a:srgbClr val="000000"/>
                </a:solidFill>
                <a:latin typeface="Times New Roman" panose="02020603050405020304" pitchFamily="18" charset="0"/>
                <a:ea typeface="Gotham"/>
                <a:cs typeface="Times New Roman" panose="02020603050405020304" pitchFamily="18" charset="0"/>
                <a:sym typeface="Gotham"/>
              </a:rPr>
              <a:t>сәтті</a:t>
            </a:r>
            <a:endParaRPr lang="en-US" sz="3536" dirty="0">
              <a:solidFill>
                <a:srgbClr val="000000"/>
              </a:solidFill>
              <a:latin typeface="Times New Roman" panose="02020603050405020304" pitchFamily="18" charset="0"/>
              <a:ea typeface="Gotham"/>
              <a:cs typeface="Times New Roman" panose="02020603050405020304" pitchFamily="18" charset="0"/>
              <a:sym typeface="Gotham"/>
            </a:endParaRPr>
          </a:p>
          <a:p>
            <a:pPr algn="l">
              <a:lnSpc>
                <a:spcPts val="3890"/>
              </a:lnSpc>
            </a:pPr>
            <a:endParaRPr lang="en-US" sz="3536" dirty="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890"/>
              </a:lnSpc>
            </a:pPr>
            <a:endParaRPr lang="en-US" sz="3536" dirty="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606026" y="-71465"/>
            <a:ext cx="9884486" cy="545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1"/>
              </a:lnSpc>
            </a:pPr>
            <a:endParaRPr dirty="0"/>
          </a:p>
          <a:p>
            <a:pPr algn="l">
              <a:lnSpc>
                <a:spcPts val="6091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6091"/>
              </a:lnSpc>
            </a:pPr>
            <a:r>
              <a:rPr lang="en-US" sz="6694" b="1" i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Авторизация</a:t>
            </a:r>
            <a:r>
              <a:rPr lang="en-US" sz="6694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 </a:t>
            </a:r>
            <a:r>
              <a:rPr lang="en-US" sz="6694" b="1" i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қалай</a:t>
            </a:r>
            <a:r>
              <a:rPr lang="en-US" sz="6694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 </a:t>
            </a:r>
            <a:r>
              <a:rPr lang="en-US" sz="6694" b="1" i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жұмыс</a:t>
            </a:r>
            <a:r>
              <a:rPr lang="en-US" sz="6694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 </a:t>
            </a:r>
            <a:r>
              <a:rPr lang="en-US" sz="6694" b="1" i="1" dirty="0" err="1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істейді</a:t>
            </a:r>
            <a:r>
              <a:rPr lang="en-US" sz="6694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?</a:t>
            </a:r>
          </a:p>
          <a:p>
            <a:pPr algn="l">
              <a:lnSpc>
                <a:spcPts val="6091"/>
              </a:lnSpc>
            </a:pPr>
            <a:endParaRPr lang="en-US" sz="6694" b="1" i="1" dirty="0">
              <a:solidFill>
                <a:srgbClr val="191919"/>
              </a:solidFill>
              <a:latin typeface="Gotham Bold Italics"/>
              <a:ea typeface="Gotham Bold Italics"/>
              <a:cs typeface="Gotham Bold Italics"/>
              <a:sym typeface="Gotham Bold Italics"/>
            </a:endParaRPr>
          </a:p>
          <a:p>
            <a:pPr algn="l">
              <a:lnSpc>
                <a:spcPts val="6091"/>
              </a:lnSpc>
            </a:pPr>
            <a:endParaRPr lang="en-US" sz="6694" b="1" i="1" dirty="0">
              <a:solidFill>
                <a:srgbClr val="191919"/>
              </a:solidFill>
              <a:latin typeface="Gotham Bold Italics"/>
              <a:ea typeface="Gotham Bold Italics"/>
              <a:cs typeface="Gotham Bold Italics"/>
              <a:sym typeface="Gotham Bold Italics"/>
            </a:endParaRPr>
          </a:p>
          <a:p>
            <a:pPr algn="l">
              <a:lnSpc>
                <a:spcPts val="6091"/>
              </a:lnSpc>
            </a:pPr>
            <a:endParaRPr lang="en-US" sz="6694" b="1" i="1" dirty="0">
              <a:solidFill>
                <a:srgbClr val="191919"/>
              </a:solidFill>
              <a:latin typeface="Gotham Bold Italics"/>
              <a:ea typeface="Gotham Bold Italics"/>
              <a:cs typeface="Gotham Bold Italics"/>
              <a:sym typeface="Gotham Bold Italics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37296" y="33563"/>
            <a:ext cx="13213407" cy="6020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9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6299"/>
              </a:lnSpc>
            </a:pPr>
            <a:r>
              <a:rPr lang="en-US" sz="4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Қортынды</a:t>
            </a:r>
            <a:r>
              <a:rPr lang="en-US" sz="45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:</a:t>
            </a:r>
          </a:p>
          <a:p>
            <a:pPr algn="ctr">
              <a:lnSpc>
                <a:spcPts val="4149"/>
              </a:lnSpc>
            </a:pP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Бұл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жоба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арқылы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:</a:t>
            </a:r>
          </a:p>
          <a:p>
            <a:pPr algn="ctr">
              <a:lnSpc>
                <a:spcPts val="4149"/>
              </a:lnSpc>
            </a:pPr>
            <a:endParaRPr lang="en-US" sz="2963" b="1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marL="639851" lvl="1" indent="-319926" algn="ctr">
              <a:lnSpc>
                <a:spcPts val="4149"/>
              </a:lnSpc>
              <a:buFont typeface="Arial"/>
              <a:buChar char="•"/>
            </a:pP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Авторизация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жүйесінің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қалай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жұмыс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істейтінін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түсіндік</a:t>
            </a:r>
            <a:endParaRPr lang="en-US" sz="2963" b="1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marL="639851" lvl="1" indent="-319926" algn="ctr">
              <a:lnSpc>
                <a:spcPts val="4149"/>
              </a:lnSpc>
              <a:buFont typeface="Arial"/>
              <a:buChar char="•"/>
            </a:pP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Қауіпсіздік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негіздерін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үйрендік</a:t>
            </a:r>
            <a:endParaRPr lang="en-US" sz="2963" b="1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marL="639851" lvl="1" indent="-319926" algn="ctr">
              <a:lnSpc>
                <a:spcPts val="4149"/>
              </a:lnSpc>
              <a:buFont typeface="Arial"/>
              <a:buChar char="•"/>
            </a:pP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Парольді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қорғаудың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маңызын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білдік</a:t>
            </a:r>
            <a:endParaRPr lang="en-US" sz="2963" b="1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algn="ctr">
              <a:lnSpc>
                <a:spcPts val="4149"/>
              </a:lnSpc>
            </a:pPr>
            <a:endParaRPr lang="en-US" sz="2963" b="1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algn="ctr">
              <a:lnSpc>
                <a:spcPts val="4149"/>
              </a:lnSpc>
            </a:pPr>
            <a:endParaRPr lang="en-US" sz="2963" b="1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algn="ctr">
              <a:lnSpc>
                <a:spcPts val="4149"/>
              </a:lnSpc>
            </a:pP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👉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Қазіргі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барлық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жүйелерде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хэштеу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міндетті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түрде</a:t>
            </a:r>
            <a:r>
              <a:rPr lang="en-US" sz="2963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963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қолданылады</a:t>
            </a:r>
            <a:endParaRPr lang="en-US" sz="2963" b="1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  <a:p>
            <a:pPr algn="ctr">
              <a:lnSpc>
                <a:spcPts val="4149"/>
              </a:lnSpc>
            </a:pPr>
            <a:endParaRPr lang="en-US" sz="2963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347</Words>
  <Application>Microsoft Office PowerPoint</Application>
  <PresentationFormat>Произвольный</PresentationFormat>
  <Paragraphs>140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Gotham</vt:lpstr>
      <vt:lpstr>Calibri</vt:lpstr>
      <vt:lpstr>Gotham Bold Italics</vt:lpstr>
      <vt:lpstr>Times New Roman</vt:lpstr>
      <vt:lpstr>Arial</vt:lpstr>
      <vt:lpstr>Open Sans Bold</vt:lpstr>
      <vt:lpstr>Gotham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Student</dc:creator>
  <cp:lastModifiedBy>Student</cp:lastModifiedBy>
  <cp:revision>3</cp:revision>
  <dcterms:created xsi:type="dcterms:W3CDTF">2006-08-16T00:00:00Z</dcterms:created>
  <dcterms:modified xsi:type="dcterms:W3CDTF">2026-04-23T13:34:29Z</dcterms:modified>
  <dc:identifier>DAG6nmEfs58</dc:identifier>
</cp:coreProperties>
</file>